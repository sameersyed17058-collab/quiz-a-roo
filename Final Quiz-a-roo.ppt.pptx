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70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451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1999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the expanded project documentation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Functional requirements are derived from the implemented React routes, API helpers, quiz state, and results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8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549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57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QUIZ-A-ROO  /  PROJECT DOCUMENTATION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01400" y="65653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005840"/>
            <a:ext cx="5029200" cy="5029200"/>
          </a:xfrm>
          <a:prstGeom prst="arc">
            <a:avLst/>
          </a:prstGeom>
          <a:noFill/>
          <a:ln w="254000">
            <a:solidFill>
              <a:srgbClr val="F36F3D">
                <a:alpha val="9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3566160"/>
            <a:ext cx="3840480" cy="3840480"/>
          </a:xfrm>
          <a:prstGeom prst="arc">
            <a:avLst/>
          </a:prstGeom>
          <a:noFill/>
          <a:ln w="101600">
            <a:solidFill>
              <a:srgbClr val="F7B84B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B8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QUIZ-A-ROO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600200"/>
            <a:ext cx="76809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Documentation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49808" y="2514600"/>
            <a:ext cx="66751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DCE6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Requirements, UML models, workflow, architecture, and interface evidence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33375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346704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ADAPTIVE QUIZ PLATFORM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49808" y="3822192"/>
            <a:ext cx="5120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9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 •  Express  •  Supabase  •  Vercel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5806440"/>
            <a:ext cx="36576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1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project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36F3D"/>
                </a:solidFill>
              </a:rPr>
              <a:t>EXPANDED DOCUMENTATION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deck adds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502920" cy="502920"/>
          </a:xfrm>
          <a:prstGeom prst="ellipse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44752"/>
            <a:ext cx="502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1307592"/>
            <a:ext cx="3017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655064"/>
            <a:ext cx="5486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and non-functional expectations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395728"/>
            <a:ext cx="502920" cy="502920"/>
          </a:xfrm>
          <a:prstGeom prst="ellipse">
            <a:avLst/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14600"/>
            <a:ext cx="502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models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724912"/>
            <a:ext cx="5486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case, activity, sequence, and architecture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465576"/>
            <a:ext cx="502920" cy="502920"/>
          </a:xfrm>
          <a:prstGeom prst="ellipse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584448"/>
            <a:ext cx="502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3447288"/>
            <a:ext cx="3017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794760"/>
            <a:ext cx="5486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quiz journey and decision points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4535424"/>
            <a:ext cx="502920" cy="502920"/>
          </a:xfrm>
          <a:prstGeom prst="ellipse">
            <a:avLst/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654296"/>
            <a:ext cx="502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4517136"/>
            <a:ext cx="3017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864608"/>
            <a:ext cx="5486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UI screenshots and implementation details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26680" y="132588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EEF5F8"/>
          </a:solidFill>
          <a:ln w="12700">
            <a:solidFill>
              <a:srgbClr val="D6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A7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2148840"/>
            <a:ext cx="278892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model maps to a concrete route, component, API call, or persistence action in the implementation.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046720" y="3886200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895344"/>
            <a:ext cx="1115568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308592" y="388620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08592" y="3895344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46720" y="4434840"/>
            <a:ext cx="27889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diagrams are documentation of the product as built, not abstract placeholders.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36F3D"/>
                </a:solidFill>
              </a:rPr>
              <a:t>REQUIREMENTS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Functional requirements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201400" cy="4608576"/>
        </p:xfrm>
        <a:graphic>
          <a:graphicData uri="http://schemas.openxmlformats.org/drawingml/2006/table">
            <a:tbl>
              <a:tblPr/>
              <a:tblGrid>
                <a:gridCol w="658368"/>
                <a:gridCol w="4617720"/>
                <a:gridCol w="5925312"/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Acceptance evidence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Register and log in with Explorer Name + Secret Explorer ID.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Home page calls register/login API and stores identity locally.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 a featured or custom topic.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SelectTopic routes the chosen topic into quiz setup.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FR-03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Choose difficulty and quiz mode.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SelectDifficulty supports Easy, Medium, Hard and code/theory modes.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Generate multiple-choice questions on demand.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Quiz invokes generateQuiz and renders question options with progress.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Provide fallback questions when AI generation fails.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 retries providers and falls back to a local question bank.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Score answers and show immediate feedback.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Quiz tracks score, streak, timer, correct/wrong state, and XP.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FR-07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Persist results and update progression.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Results saves stars/XP to local progress and Supabase.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FR-08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Expose history and global leaderboard views.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History and Leaderboard routes read persisted player data.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1655064"/>
            <a:ext cx="11201400" cy="512064"/>
          </a:xfrm>
          <a:prstGeom prst="rect">
            <a:avLst/>
          </a:prstGeom>
          <a:solidFill>
            <a:srgbClr val="F4F7FA">
              <a:alpha val="92000"/>
            </a:srgbClr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2679192"/>
            <a:ext cx="11201400" cy="512064"/>
          </a:xfrm>
          <a:prstGeom prst="rect">
            <a:avLst/>
          </a:prstGeom>
          <a:solidFill>
            <a:srgbClr val="F4F7FA">
              <a:alpha val="92000"/>
            </a:srgbClr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3703320"/>
            <a:ext cx="11201400" cy="512064"/>
          </a:xfrm>
          <a:prstGeom prst="rect">
            <a:avLst/>
          </a:prstGeom>
          <a:solidFill>
            <a:srgbClr val="F4F7FA">
              <a:alpha val="92000"/>
            </a:srgbClr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4727448"/>
            <a:ext cx="11201400" cy="512064"/>
          </a:xfrm>
          <a:prstGeom prst="rect">
            <a:avLst/>
          </a:prstGeom>
          <a:solidFill>
            <a:srgbClr val="F4F7FA">
              <a:alpha val="92000"/>
            </a:srgbClr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36F3D"/>
                </a:solidFill>
              </a:rPr>
              <a:t>REQUIREMENTS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Non-functional requirements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73152" cy="1325880"/>
          </a:xfrm>
          <a:prstGeom prst="rect">
            <a:avLst/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80744"/>
            <a:ext cx="320040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NFR-01  Availability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719072"/>
            <a:ext cx="3200400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can complete a quiz even when live AI providers fail, using retry logic and a fallback bank.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2344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234440"/>
            <a:ext cx="73152" cy="1325880"/>
          </a:xfrm>
          <a:prstGeom prst="rect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380744"/>
            <a:ext cx="320040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NFR-02  Performance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1719072"/>
            <a:ext cx="3200400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generation is bounded by a timeout so slow providers do not leave the interface waiting indefinitely.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234440"/>
            <a:ext cx="73152" cy="132588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380744"/>
            <a:ext cx="320040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NFR-03  Usability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1719072"/>
            <a:ext cx="3200400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topic, difficulty, progress, timer, feedback, and result states support fast scanning.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8803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880360"/>
            <a:ext cx="73152" cy="1325880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026664"/>
            <a:ext cx="320040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NFR-04  Security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364992"/>
            <a:ext cx="3200400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Secret Explorer ID avoids password storage while keeping a player identity available across sessions.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28803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2880360"/>
            <a:ext cx="73152" cy="132588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026664"/>
            <a:ext cx="320040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NFR-05  Maintainability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3364992"/>
            <a:ext cx="3200400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pages separate route-level views; API helpers isolate server communication from presentation.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92440" y="28803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2880360"/>
            <a:ext cx="73152" cy="1325880"/>
          </a:xfrm>
          <a:prstGeom prst="rect">
            <a:avLst/>
          </a:prstGeom>
          <a:solidFill>
            <a:srgbClr val="F7B84B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3026664"/>
            <a:ext cx="320040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NFR-06  Scalability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5320" y="3364992"/>
            <a:ext cx="3200400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AI providers and structured JSON responses allow the generation layer to evolve independently.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4709160"/>
            <a:ext cx="11018520" cy="1024128"/>
          </a:xfrm>
          <a:prstGeom prst="roundRect">
            <a:avLst>
              <a:gd name="adj" fmla="val 10714"/>
            </a:avLst>
          </a:prstGeom>
          <a:solidFill>
            <a:srgbClr val="FFF8E8"/>
          </a:solidFill>
          <a:ln w="12700">
            <a:solidFill>
              <a:srgbClr val="F7D9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965192"/>
            <a:ext cx="11887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target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94560" y="4892040"/>
            <a:ext cx="87325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player should always receive a clear next state: loading, question, feedback, results, or a recoverable error.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36F3D"/>
                </a:solidFill>
              </a:rPr>
              <a:t>UML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diagram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411480" cy="411480"/>
          </a:xfrm>
          <a:prstGeom prst="ellipse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2743200"/>
            <a:ext cx="0" cy="658368"/>
          </a:xfrm>
          <a:prstGeom prst="line">
            <a:avLst/>
          </a:prstGeom>
          <a:noFill/>
          <a:ln w="25400">
            <a:solidFill>
              <a:srgbClr val="1322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820" y="2980944"/>
            <a:ext cx="0" cy="320040"/>
          </a:xfrm>
          <a:prstGeom prst="line">
            <a:avLst/>
          </a:prstGeom>
          <a:noFill/>
          <a:ln w="25400">
            <a:solidFill>
              <a:srgbClr val="1322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" y="2980944"/>
            <a:ext cx="320040" cy="320040"/>
          </a:xfrm>
          <a:prstGeom prst="line">
            <a:avLst/>
          </a:prstGeom>
          <a:noFill/>
          <a:ln w="25400">
            <a:solidFill>
              <a:srgbClr val="1322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" y="3401568"/>
            <a:ext cx="0" cy="384048"/>
          </a:xfrm>
          <a:prstGeom prst="line">
            <a:avLst/>
          </a:prstGeom>
          <a:noFill/>
          <a:ln w="25400">
            <a:solidFill>
              <a:srgbClr val="1322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5820" y="3401568"/>
            <a:ext cx="228600" cy="384048"/>
          </a:xfrm>
          <a:prstGeom prst="line">
            <a:avLst/>
          </a:prstGeom>
          <a:noFill/>
          <a:ln w="25400">
            <a:solidFill>
              <a:srgbClr val="132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1143000"/>
            <a:ext cx="9098280" cy="4754880"/>
          </a:xfrm>
          <a:prstGeom prst="roundRect">
            <a:avLst>
              <a:gd name="adj" fmla="val 2308"/>
            </a:avLst>
          </a:prstGeom>
          <a:solidFill>
            <a:srgbClr val="FDFE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353312"/>
            <a:ext cx="22860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182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Quiz-A-Roo system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31720" y="196596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6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216712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/ Login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V="1">
            <a:off x="1051560" y="2461189"/>
            <a:ext cx="1280160" cy="674605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196596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16712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topic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V="1">
            <a:off x="1051560" y="2569464"/>
            <a:ext cx="3520440" cy="557784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12280" y="196596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7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16712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difficulty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V="1">
            <a:off x="1074420" y="2514599"/>
            <a:ext cx="5829300" cy="621194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331720" y="324612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182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344728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 quiz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51560" y="3127248"/>
            <a:ext cx="1280160" cy="448056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0" y="324612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44728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results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51560" y="3127248"/>
            <a:ext cx="3520440" cy="448056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12280" y="324612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45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344728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history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51560" y="3127248"/>
            <a:ext cx="5760720" cy="448056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0" y="457200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2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77316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leaderboard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51560" y="3127248"/>
            <a:ext cx="3520440" cy="1773936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732520" y="4572000"/>
            <a:ext cx="1645920" cy="658368"/>
          </a:xfrm>
          <a:prstGeom prst="roundRect">
            <a:avLst>
              <a:gd name="adj" fmla="val 16667"/>
            </a:avLst>
          </a:prstGeom>
          <a:solidFill>
            <a:srgbClr val="FFF4EE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05672" y="4617720"/>
            <a:ext cx="1499616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provider / fallback bank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95360" y="3703320"/>
            <a:ext cx="960120" cy="868680"/>
          </a:xfrm>
          <a:prstGeom prst="line">
            <a:avLst/>
          </a:prstGeom>
          <a:noFill/>
          <a:ln w="1270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144000" y="5349240"/>
            <a:ext cx="12801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services</a:t>
            </a:r>
            <a:endParaRPr lang="en-US" sz="9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36F3D"/>
                </a:solidFill>
              </a:rPr>
              <a:t>UML + 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diagram: quiz workflow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10912" y="987552"/>
            <a:ext cx="347472" cy="347472"/>
          </a:xfrm>
          <a:prstGeom prst="ellipse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481328"/>
            <a:ext cx="1188720" cy="438912"/>
          </a:xfrm>
          <a:prstGeom prst="roundRect">
            <a:avLst>
              <a:gd name="adj" fmla="val 25000"/>
            </a:avLst>
          </a:prstGeom>
          <a:solidFill>
            <a:srgbClr val="EAF0F6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90872" y="1527048"/>
            <a:ext cx="10424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app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0" y="1335024"/>
            <a:ext cx="0" cy="146304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17720" y="2148840"/>
            <a:ext cx="1188720" cy="438912"/>
          </a:xfrm>
          <a:prstGeom prst="roundRect">
            <a:avLst>
              <a:gd name="adj" fmla="val 25000"/>
            </a:avLst>
          </a:prstGeom>
          <a:solidFill>
            <a:srgbClr val="FFF4EE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194560"/>
            <a:ext cx="10424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/ login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1920240"/>
            <a:ext cx="0" cy="228600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17720" y="2816352"/>
            <a:ext cx="1188720" cy="438912"/>
          </a:xfrm>
          <a:prstGeom prst="roundRect">
            <a:avLst>
              <a:gd name="adj" fmla="val 25000"/>
            </a:avLst>
          </a:prstGeom>
          <a:solidFill>
            <a:srgbClr val="EEF9F8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862072"/>
            <a:ext cx="10424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topic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2587752"/>
            <a:ext cx="0" cy="228600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17720" y="3483864"/>
            <a:ext cx="1188720" cy="438912"/>
          </a:xfrm>
          <a:prstGeom prst="roundRect">
            <a:avLst>
              <a:gd name="adj" fmla="val 25000"/>
            </a:avLst>
          </a:prstGeom>
          <a:solidFill>
            <a:srgbClr val="FFF8E8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3529584"/>
            <a:ext cx="10424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difficulty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3255264"/>
            <a:ext cx="0" cy="228600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17720" y="4151376"/>
            <a:ext cx="1188720" cy="438912"/>
          </a:xfrm>
          <a:prstGeom prst="roundRect">
            <a:avLst>
              <a:gd name="adj" fmla="val 25000"/>
            </a:avLst>
          </a:prstGeom>
          <a:solidFill>
            <a:srgbClr val="EEF5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4197096"/>
            <a:ext cx="10424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quiz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3922776"/>
            <a:ext cx="0" cy="228600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37760" y="4828032"/>
            <a:ext cx="548640" cy="548640"/>
          </a:xfrm>
          <a:prstGeom prst="diamond">
            <a:avLst/>
          </a:prstGeom>
          <a:solidFill>
            <a:srgbClr val="FFFFFF"/>
          </a:solidFill>
          <a:ln w="17780">
            <a:solidFill>
              <a:srgbClr val="F36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4928616"/>
            <a:ext cx="475488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ready?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12080" y="4590288"/>
            <a:ext cx="0" cy="237744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828800" y="5166360"/>
            <a:ext cx="1508760" cy="438912"/>
          </a:xfrm>
          <a:prstGeom prst="roundRect">
            <a:avLst>
              <a:gd name="adj" fmla="val 25000"/>
            </a:avLst>
          </a:prstGeom>
          <a:solidFill>
            <a:srgbClr val="EEF9F8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01952" y="5212080"/>
            <a:ext cx="13624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questions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5102352"/>
            <a:ext cx="0" cy="274320"/>
          </a:xfrm>
          <a:prstGeom prst="line">
            <a:avLst/>
          </a:prstGeom>
          <a:noFill/>
          <a:ln w="19050">
            <a:solidFill>
              <a:srgbClr val="19A7A0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017520" y="5010912"/>
            <a:ext cx="3200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A7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26680" y="5166360"/>
            <a:ext cx="1508760" cy="438912"/>
          </a:xfrm>
          <a:prstGeom prst="roundRect">
            <a:avLst>
              <a:gd name="adj" fmla="val 25000"/>
            </a:avLst>
          </a:prstGeom>
          <a:solidFill>
            <a:srgbClr val="FFF4EE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99832" y="5212080"/>
            <a:ext cx="13624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fallback bank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5102352"/>
            <a:ext cx="2240280" cy="274320"/>
          </a:xfrm>
          <a:prstGeom prst="line">
            <a:avLst/>
          </a:prstGeom>
          <a:noFill/>
          <a:ln w="1905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720840" y="5010912"/>
            <a:ext cx="3200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36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94760" y="5897880"/>
            <a:ext cx="2834640" cy="438912"/>
          </a:xfrm>
          <a:prstGeom prst="roundRect">
            <a:avLst>
              <a:gd name="adj" fmla="val 25000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67912" y="5943600"/>
            <a:ext cx="268833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loop → score → results → save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78608" y="5605272"/>
            <a:ext cx="1673352" cy="292608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485632" y="5605272"/>
            <a:ext cx="0" cy="292608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36F3D"/>
                </a:solidFill>
              </a:rPr>
              <a:t>UML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Sequence diagram: generate and save a quiz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60120" y="1078992"/>
            <a:ext cx="1170432" cy="438912"/>
          </a:xfrm>
          <a:prstGeom prst="roundRect">
            <a:avLst>
              <a:gd name="adj" fmla="val 25000"/>
            </a:avLst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124712"/>
            <a:ext cx="102412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45336" y="1536192"/>
            <a:ext cx="0" cy="4297680"/>
          </a:xfrm>
          <a:prstGeom prst="line">
            <a:avLst/>
          </a:prstGeom>
          <a:noFill/>
          <a:ln w="12700">
            <a:solidFill>
              <a:srgbClr val="B8C5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1078992"/>
            <a:ext cx="1170432" cy="438912"/>
          </a:xfrm>
          <a:prstGeom prst="roundRect">
            <a:avLst>
              <a:gd name="adj" fmla="val 25000"/>
            </a:avLst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1124712"/>
            <a:ext cx="102412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UI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48456" y="1536192"/>
            <a:ext cx="0" cy="4297680"/>
          </a:xfrm>
          <a:prstGeom prst="line">
            <a:avLst/>
          </a:prstGeom>
          <a:noFill/>
          <a:ln w="12700">
            <a:solidFill>
              <a:srgbClr val="B8C5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078992"/>
            <a:ext cx="1170432" cy="438912"/>
          </a:xfrm>
          <a:prstGeom prst="roundRect">
            <a:avLst>
              <a:gd name="adj" fmla="val 25000"/>
            </a:avLst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9512" y="1124712"/>
            <a:ext cx="102412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51576" y="1536192"/>
            <a:ext cx="0" cy="4297680"/>
          </a:xfrm>
          <a:prstGeom prst="line">
            <a:avLst/>
          </a:prstGeom>
          <a:noFill/>
          <a:ln w="12700">
            <a:solidFill>
              <a:srgbClr val="B8C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1078992"/>
            <a:ext cx="1170432" cy="438912"/>
          </a:xfrm>
          <a:prstGeom prst="roundRect">
            <a:avLst>
              <a:gd name="adj" fmla="val 25000"/>
            </a:avLst>
          </a:prstGeom>
          <a:solidFill>
            <a:srgbClr val="F7B84B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42632" y="1124712"/>
            <a:ext cx="102412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provider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54696" y="1536192"/>
            <a:ext cx="0" cy="4297680"/>
          </a:xfrm>
          <a:prstGeom prst="line">
            <a:avLst/>
          </a:prstGeom>
          <a:noFill/>
          <a:ln w="12700">
            <a:solidFill>
              <a:srgbClr val="B8C5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1078992"/>
            <a:ext cx="1170432" cy="438912"/>
          </a:xfrm>
          <a:prstGeom prst="roundRect">
            <a:avLst>
              <a:gd name="adj" fmla="val 25000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45752" y="1124712"/>
            <a:ext cx="102412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957816" y="1536192"/>
            <a:ext cx="0" cy="4297680"/>
          </a:xfrm>
          <a:prstGeom prst="line">
            <a:avLst/>
          </a:prstGeom>
          <a:noFill/>
          <a:ln w="12700">
            <a:solidFill>
              <a:srgbClr val="B8C5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48456" y="1554480"/>
            <a:ext cx="914400" cy="0"/>
          </a:xfrm>
          <a:prstGeom prst="line">
            <a:avLst/>
          </a:prstGeom>
          <a:noFill/>
          <a:ln w="1524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0" y="1353312"/>
            <a:ext cx="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submit topic + difficulty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51576" y="3611880"/>
            <a:ext cx="914400" cy="0"/>
          </a:xfrm>
          <a:prstGeom prst="line">
            <a:avLst/>
          </a:prstGeom>
          <a:noFill/>
          <a:ln w="1524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0" y="3410712"/>
            <a:ext cx="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POST /api/generate-quiz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854696" y="5715000"/>
            <a:ext cx="914400" cy="0"/>
          </a:xfrm>
          <a:prstGeom prst="line">
            <a:avLst/>
          </a:prstGeom>
          <a:noFill/>
          <a:ln w="1524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0" y="5513832"/>
            <a:ext cx="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generate structured JSON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751576" y="7269480"/>
            <a:ext cx="914400" cy="0"/>
          </a:xfrm>
          <a:prstGeom prst="line">
            <a:avLst/>
          </a:prstGeom>
          <a:noFill/>
          <a:ln w="1524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0" y="7068312"/>
            <a:ext cx="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return questions or fallback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48456" y="5166360"/>
            <a:ext cx="914400" cy="0"/>
          </a:xfrm>
          <a:prstGeom prst="line">
            <a:avLst/>
          </a:prstGeom>
          <a:noFill/>
          <a:ln w="1524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0" y="4965192"/>
            <a:ext cx="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render quiz + collect answers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957816" y="3063240"/>
            <a:ext cx="914400" cy="0"/>
          </a:xfrm>
          <a:prstGeom prst="line">
            <a:avLst/>
          </a:prstGeom>
          <a:noFill/>
          <a:ln w="1524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0" y="2862072"/>
            <a:ext cx="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POST result / update progress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48456" y="9372600"/>
            <a:ext cx="914400" cy="0"/>
          </a:xfrm>
          <a:prstGeom prst="line">
            <a:avLst/>
          </a:prstGeom>
          <a:noFill/>
          <a:ln w="1524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0" y="9171432"/>
            <a:ext cx="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confirm saved result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9808" y="6053328"/>
            <a:ext cx="10744200" cy="365760"/>
          </a:xfrm>
          <a:prstGeom prst="roundRect">
            <a:avLst>
              <a:gd name="adj" fmla="val 300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6144768"/>
            <a:ext cx="10241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resilience point: if the AI provider fails or times out, Express returns fallback questions and the player journey continues.</a:t>
            </a:r>
            <a:endParaRPr lang="en-US" sz="10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36F3D"/>
                </a:solidFill>
              </a:rPr>
              <a:t>UML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 / architecture UML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EF5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286000"/>
            <a:ext cx="1682496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client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+ pages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54680" y="22402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EF9F8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27832" y="2286000"/>
            <a:ext cx="1682496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helper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wrapper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23560" y="22402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4EE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96712" y="2286000"/>
            <a:ext cx="1682496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server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/routes/quiz.js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92440" y="13258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5592" y="1371600"/>
            <a:ext cx="1682496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engine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+ fallback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92440" y="31546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EF9F1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5592" y="3200400"/>
            <a:ext cx="1682496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+ results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2697480"/>
            <a:ext cx="640080" cy="0"/>
          </a:xfrm>
          <a:prstGeom prst="line">
            <a:avLst/>
          </a:prstGeom>
          <a:noFill/>
          <a:ln w="19050">
            <a:solidFill>
              <a:srgbClr val="3182C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83480" y="2697480"/>
            <a:ext cx="640080" cy="0"/>
          </a:xfrm>
          <a:prstGeom prst="line">
            <a:avLst/>
          </a:prstGeom>
          <a:noFill/>
          <a:ln w="19050">
            <a:solidFill>
              <a:srgbClr val="19A7A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7452360" y="1783080"/>
            <a:ext cx="640080" cy="731520"/>
          </a:xfrm>
          <a:prstGeom prst="line">
            <a:avLst/>
          </a:prstGeom>
          <a:noFill/>
          <a:ln w="1905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52360" y="2880360"/>
            <a:ext cx="640080" cy="731520"/>
          </a:xfrm>
          <a:prstGeom prst="line">
            <a:avLst/>
          </a:prstGeom>
          <a:noFill/>
          <a:ln w="1905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578608" y="2423160"/>
            <a:ext cx="5943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/ JSON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74920" y="2423160"/>
            <a:ext cx="548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calls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20240" y="4754880"/>
            <a:ext cx="8183880" cy="777240"/>
          </a:xfrm>
          <a:prstGeom prst="roundRect">
            <a:avLst>
              <a:gd name="adj" fmla="val 14118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5010912"/>
            <a:ext cx="7726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Cross-cutting qualities: timeout protection  •  structured JSON  •  local progress  •  graceful fallback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401568"/>
            <a:ext cx="8229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182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1880" y="3401568"/>
            <a:ext cx="8229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A7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3401568"/>
            <a:ext cx="8229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6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49640" y="4572000"/>
            <a:ext cx="8229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A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</a:t>
            </a:r>
            <a:endParaRPr lang="en-US" sz="1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36F3D"/>
                </a:solidFill>
              </a:rPr>
              <a:t>TECHNICAL NOTES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details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73152" cy="118872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80744"/>
            <a:ext cx="31546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31546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`App.js` maps Home, Roadmap, SelectTopic, SelectDifficulty, Quiz, Results, History, and Leaderboard into the player journey.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70832" y="123444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234440"/>
            <a:ext cx="73152" cy="1188720"/>
          </a:xfrm>
          <a:prstGeom prst="rect">
            <a:avLst/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380744"/>
            <a:ext cx="31546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3712" y="1719072"/>
            <a:ext cx="31546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state carries topic, difficulty, mode, stage, and player identity between screens; localStorage preserves identity and stage progress.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01584" y="123444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234440"/>
            <a:ext cx="73152" cy="1188720"/>
          </a:xfrm>
          <a:prstGeom prst="rect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380744"/>
            <a:ext cx="31546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84464" y="1719072"/>
            <a:ext cx="31546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quiz API accepts topic, difficulty, question count, and mode, then returns normalized multiple-choice 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880360"/>
            <a:ext cx="73152" cy="1188720"/>
          </a:xfrm>
          <a:prstGeom prst="rect">
            <a:avLst/>
          </a:prstGeom>
          <a:solidFill>
            <a:srgbClr val="F7B84B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026664"/>
            <a:ext cx="31546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364992"/>
            <a:ext cx="31546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update score, streak, progress, timer, feedback state, stars, and XP before navigating to Results.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70832" y="288036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0832" y="2880360"/>
            <a:ext cx="73152" cy="11887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3026664"/>
            <a:ext cx="31546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53712" y="3364992"/>
            <a:ext cx="31546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updates local roadmap progress and calls the result-save API for history and leaderboard data.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1584" y="288036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1584" y="2880360"/>
            <a:ext cx="73152" cy="1188720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4464" y="3026664"/>
            <a:ext cx="31546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84464" y="3364992"/>
            <a:ext cx="31546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Loading, empty, failed-sync, and fallback states keep the player informed and provide a next action.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800600"/>
            <a:ext cx="10936224" cy="777240"/>
          </a:xfrm>
          <a:prstGeom prst="roundRect">
            <a:avLst>
              <a:gd name="adj" fmla="val 14118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010912"/>
            <a:ext cx="1737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traceability chain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88920" y="4965192"/>
            <a:ext cx="8183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→ component state → API call → persistence → next visible state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36F3D"/>
                </a:solidFill>
              </a:rPr>
              <a:t>QUALITY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checklist</a:t>
            </a:r>
            <a:endParaRPr lang="en-US" sz="2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927080" cy="4160520"/>
        </p:xfrm>
        <a:graphic>
          <a:graphicData uri="http://schemas.openxmlformats.org/drawingml/2006/table">
            <a:tbl>
              <a:tblPr/>
              <a:tblGrid>
                <a:gridCol w="1463040"/>
                <a:gridCol w="4572000"/>
                <a:gridCol w="489204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Area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Check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Expected outcome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Authentication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Register, reload, login with Secret Explorer ID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Identity and stage progress are restored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Generation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Valid AI response / provider timeout / malformed response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Questions render or fallback is returned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Quiz loop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Select answer, reveal feedback, advance through final question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Score, streak, progress, and timer remain consistent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Results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Complete quiz with a logged-in player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Stars/XP appear and result is saved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Navigation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Open protected setup route without player identity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Clear recovery state sends player to Home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Responsive UI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View topic, quiz, and results at mobile width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Controls remain readable and usable</a:t>
                      </a:r>
                      <a:endParaRPr lang="en-US" sz="1000" dirty="0"/>
                    </a:p>
                  </a:txBody>
                  <a:tcPr marT="91440" marB="91440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21818"/>
            </a:avLst>
          </a:prstGeom>
          <a:solidFill>
            <a:srgbClr val="EEF9F8"/>
          </a:solidFill>
          <a:ln w="12700">
            <a:solidFill>
              <a:srgbClr val="B8E5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861304"/>
            <a:ext cx="103784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A7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 of done: every primary user path has a visible success state and a recoverable failure state.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36F3D"/>
                </a:solidFill>
              </a:rPr>
              <a:t>COMBINED SOURCE MATERIALS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story and core features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170432"/>
            <a:ext cx="107899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Quiz-A-Roo turns a conventional quiz into a repeatable learning loop: choose a subject, receive fresh questions, get immediate feedback, and see progress accumulate.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73152" cy="1234440"/>
          </a:xfrm>
          <a:prstGeom prst="rect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57984"/>
            <a:ext cx="310896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content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496312"/>
            <a:ext cx="3108960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AI-generated questions can adapt to any topic and difficulty, avoiding a fixed question list.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011680"/>
            <a:ext cx="73152" cy="1234440"/>
          </a:xfrm>
          <a:prstGeom prst="rect">
            <a:avLst/>
          </a:prstGeom>
          <a:solidFill>
            <a:srgbClr val="F7B84B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157984"/>
            <a:ext cx="310896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mechanics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496312"/>
            <a:ext cx="3108960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XP, stars, unlockable stages, streaks, and a leaderboard turn practice into visible progress.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92440" y="20116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2011680"/>
            <a:ext cx="73152" cy="1234440"/>
          </a:xfrm>
          <a:prstGeom prst="rect">
            <a:avLst/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157984"/>
            <a:ext cx="310896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available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2496312"/>
            <a:ext cx="3108960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questions keep the learning flow usable when an external AI provider is unavailable.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794760"/>
            <a:ext cx="10835640" cy="1325880"/>
          </a:xfrm>
          <a:prstGeom prst="roundRect">
            <a:avLst>
              <a:gd name="adj" fmla="val 8276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096512"/>
            <a:ext cx="11430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loop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48840" y="407822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46120" y="4206240"/>
            <a:ext cx="566928" cy="0"/>
          </a:xfrm>
          <a:prstGeom prst="line">
            <a:avLst/>
          </a:prstGeom>
          <a:noFill/>
          <a:ln w="1270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886200" y="407822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83480" y="4206240"/>
            <a:ext cx="566928" cy="0"/>
          </a:xfrm>
          <a:prstGeom prst="line">
            <a:avLst/>
          </a:prstGeom>
          <a:noFill/>
          <a:ln w="1270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23560" y="407822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20840" y="4206240"/>
            <a:ext cx="566928" cy="0"/>
          </a:xfrm>
          <a:prstGeom prst="line">
            <a:avLst/>
          </a:prstGeom>
          <a:noFill/>
          <a:ln w="1270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60920" y="407822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7B84B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458200" y="4206240"/>
            <a:ext cx="566928" cy="0"/>
          </a:xfrm>
          <a:prstGeom prst="line">
            <a:avLst/>
          </a:prstGeom>
          <a:noFill/>
          <a:ln w="1270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98280" y="407822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98280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60120" y="5468112"/>
            <a:ext cx="10149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proposition: personalized practice with the clarity and motivation of a game.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65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36F3D"/>
                </a:solidFill>
              </a:rPr>
              <a:t>COMBINED SOURCE MATERIALS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integration and resilience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417320" cy="640080"/>
          </a:xfrm>
          <a:prstGeom prst="roundRect">
            <a:avLst>
              <a:gd name="adj" fmla="val 17143"/>
            </a:avLst>
          </a:prstGeom>
          <a:solidFill>
            <a:srgbClr val="EEF5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57400"/>
            <a:ext cx="1271016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request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88920" y="2011680"/>
            <a:ext cx="1600200" cy="640080"/>
          </a:xfrm>
          <a:prstGeom prst="roundRect">
            <a:avLst>
              <a:gd name="adj" fmla="val 17143"/>
            </a:avLst>
          </a:prstGeom>
          <a:solidFill>
            <a:srgbClr val="FFF4EE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62072" y="2057400"/>
            <a:ext cx="1453896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selection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2011680"/>
            <a:ext cx="1600200" cy="640080"/>
          </a:xfrm>
          <a:prstGeom prst="roundRect">
            <a:avLst>
              <a:gd name="adj" fmla="val 17143"/>
            </a:avLst>
          </a:prstGeom>
          <a:solidFill>
            <a:srgbClr val="EEF9F8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02352" y="2057400"/>
            <a:ext cx="1453896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JSON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269480" y="2011680"/>
            <a:ext cx="1600200" cy="640080"/>
          </a:xfrm>
          <a:prstGeom prst="roundRect">
            <a:avLst>
              <a:gd name="adj" fmla="val 17143"/>
            </a:avLst>
          </a:prstGeom>
          <a:solidFill>
            <a:srgbClr val="FFF8E8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42632" y="2057400"/>
            <a:ext cx="1453896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validation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509760" y="2011680"/>
            <a:ext cx="1600200" cy="640080"/>
          </a:xfrm>
          <a:prstGeom prst="roundRect">
            <a:avLst>
              <a:gd name="adj" fmla="val 17143"/>
            </a:avLst>
          </a:prstGeom>
          <a:solidFill>
            <a:srgbClr val="EEF9F1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82912" y="2057400"/>
            <a:ext cx="1453896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or fallback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2331720"/>
            <a:ext cx="594360" cy="0"/>
          </a:xfrm>
          <a:prstGeom prst="line">
            <a:avLst/>
          </a:prstGeom>
          <a:noFill/>
          <a:ln w="19050">
            <a:solidFill>
              <a:srgbClr val="3182C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89120" y="2331720"/>
            <a:ext cx="640080" cy="0"/>
          </a:xfrm>
          <a:prstGeom prst="line">
            <a:avLst/>
          </a:prstGeom>
          <a:noFill/>
          <a:ln w="1905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2331720"/>
            <a:ext cx="640080" cy="0"/>
          </a:xfrm>
          <a:prstGeom prst="line">
            <a:avLst/>
          </a:prstGeom>
          <a:noFill/>
          <a:ln w="19050">
            <a:solidFill>
              <a:srgbClr val="19A7A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69680" y="2331720"/>
            <a:ext cx="640080" cy="0"/>
          </a:xfrm>
          <a:prstGeom prst="line">
            <a:avLst/>
          </a:prstGeom>
          <a:noFill/>
          <a:ln w="19050">
            <a:solidFill>
              <a:srgbClr val="F7B84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" y="370332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703320"/>
            <a:ext cx="73152" cy="123444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849624"/>
            <a:ext cx="29260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flexibility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187952"/>
            <a:ext cx="2926080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AI services can be selected and switched without changing the React quiz interface.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370332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3703320"/>
            <a:ext cx="73152" cy="1234440"/>
          </a:xfrm>
          <a:prstGeom prst="rect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849624"/>
            <a:ext cx="29260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 protection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4187952"/>
            <a:ext cx="2926080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bounded generation request prevents slow external services from blocking the player indefinitely.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83880" y="370332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703320"/>
            <a:ext cx="73152" cy="1234440"/>
          </a:xfrm>
          <a:prstGeom prst="rect">
            <a:avLst/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3849624"/>
            <a:ext cx="29260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continuity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66760" y="4187952"/>
            <a:ext cx="2926080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question bank preserves the essential promise: the player can still take a quiz.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43000" y="5623560"/>
            <a:ext cx="9921240" cy="438912"/>
          </a:xfrm>
          <a:prstGeom prst="roundRect">
            <a:avLst>
              <a:gd name="adj" fmla="val 25000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5751576"/>
            <a:ext cx="93726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intelligence is an enhancement; the core learning workflow remains resilient.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46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36F3D"/>
                </a:solidFill>
              </a:rPr>
              <a:t>COMBINED SOURCE MATERIALS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Progression, history, and competition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75688"/>
            <a:ext cx="6400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90472" y="2194560"/>
            <a:ext cx="1298448" cy="0"/>
          </a:xfrm>
          <a:prstGeom prst="line">
            <a:avLst/>
          </a:prstGeom>
          <a:noFill/>
          <a:ln w="1524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12801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3090672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90088" y="1874520"/>
            <a:ext cx="640080" cy="640080"/>
          </a:xfrm>
          <a:prstGeom prst="ellipse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2075688"/>
            <a:ext cx="6400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03320" y="2194560"/>
            <a:ext cx="1298448" cy="0"/>
          </a:xfrm>
          <a:prstGeom prst="line">
            <a:avLst/>
          </a:prstGeom>
          <a:noFill/>
          <a:ln w="1524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670048" y="2788920"/>
            <a:ext cx="12801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87168" y="3090672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Explorer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02936" y="1874520"/>
            <a:ext cx="640080" cy="640080"/>
          </a:xfrm>
          <a:prstGeom prst="ellipse">
            <a:avLst/>
          </a:prstGeom>
          <a:solidFill>
            <a:srgbClr val="F7B84B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02936" y="2075688"/>
            <a:ext cx="6400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16168" y="2194560"/>
            <a:ext cx="1298448" cy="0"/>
          </a:xfrm>
          <a:prstGeom prst="line">
            <a:avLst/>
          </a:prstGeom>
          <a:noFill/>
          <a:ln w="1524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882896" y="2788920"/>
            <a:ext cx="12801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0016" y="3090672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stars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15784" y="1874520"/>
            <a:ext cx="640080" cy="640080"/>
          </a:xfrm>
          <a:prstGeom prst="ellipse">
            <a:avLst/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15784" y="2075688"/>
            <a:ext cx="6400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9016" y="2194560"/>
            <a:ext cx="1298448" cy="0"/>
          </a:xfrm>
          <a:prstGeom prst="line">
            <a:avLst/>
          </a:prstGeom>
          <a:noFill/>
          <a:ln w="1524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095744" y="2788920"/>
            <a:ext cx="12801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12864" y="3090672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 XP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28632" y="1874520"/>
            <a:ext cx="640080" cy="6400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28632" y="2075688"/>
            <a:ext cx="6400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08592" y="2788920"/>
            <a:ext cx="12801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25712" y="3090672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+ leaderboard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" y="4069080"/>
            <a:ext cx="5166360" cy="1261872"/>
          </a:xfrm>
          <a:prstGeom prst="roundRect">
            <a:avLst>
              <a:gd name="adj" fmla="val 8696"/>
            </a:avLst>
          </a:prstGeom>
          <a:solidFill>
            <a:srgbClr val="EEF9F8"/>
          </a:solidFill>
          <a:ln w="12700">
            <a:solidFill>
              <a:srgbClr val="B8E5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A7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history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51560" y="4709160"/>
            <a:ext cx="44805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quizzes, topics, scores, XP, and stars create a personal learning record.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4069080"/>
            <a:ext cx="5166360" cy="1261872"/>
          </a:xfrm>
          <a:prstGeom prst="roundRect">
            <a:avLst>
              <a:gd name="adj" fmla="val 8696"/>
            </a:avLst>
          </a:prstGeom>
          <a:solidFill>
            <a:srgbClr val="FFF4EE"/>
          </a:solidFill>
          <a:ln w="12700">
            <a:solidFill>
              <a:srgbClr val="F2C1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4343400"/>
            <a:ext cx="1920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36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leaderboard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37960" y="4709160"/>
            <a:ext cx="44805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XP rankings make progress social while the Secret Explorer ID keeps the login experience lightweight.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46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206240"/>
            <a:ext cx="4389120" cy="4389120"/>
          </a:xfrm>
          <a:prstGeom prst="arc">
            <a:avLst/>
          </a:prstGeom>
          <a:noFill/>
          <a:ln w="177800">
            <a:solidFill>
              <a:srgbClr val="19A7A0">
                <a:alpha val="9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371600"/>
            <a:ext cx="4389120" cy="4389120"/>
          </a:xfrm>
          <a:prstGeom prst="arc">
            <a:avLst/>
          </a:prstGeom>
          <a:noFill/>
          <a:ln w="177800">
            <a:solidFill>
              <a:srgbClr val="F36F3D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20240"/>
            <a:ext cx="59436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Quiz-A-Roo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704088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DCE6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documented, traceable path from player intent to adaptive learning feedback.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3886200"/>
            <a:ext cx="3154680" cy="256032"/>
          </a:xfrm>
          <a:prstGeom prst="roundRect">
            <a:avLst>
              <a:gd name="adj" fmla="val 50000"/>
            </a:avLst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95344"/>
            <a:ext cx="31546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 •  PROGRESS  •  COMPETITION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" y="5577840"/>
            <a:ext cx="18288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B8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1221</Words>
  <Application>Microsoft Office PowerPoint</Application>
  <PresentationFormat>Widescreen</PresentationFormat>
  <Paragraphs>256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Quiz-A-Roo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Quiz-A-Roo | Project Documentation</dc:title>
  <dc:subject>Quiz-A-Roo project documentation</dc:subject>
  <dc:creator>Quiz-A-Roo Team</dc:creator>
  <cp:lastModifiedBy>Microsoft account</cp:lastModifiedBy>
  <cp:revision>2</cp:revision>
  <dcterms:created xsi:type="dcterms:W3CDTF">2026-09-12T08:19:24Z</dcterms:created>
  <dcterms:modified xsi:type="dcterms:W3CDTF">2026-09-12T08:26:31Z</dcterms:modified>
</cp:coreProperties>
</file>